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5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41480" y="0"/>
            <a:ext cx="350215" cy="68580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384048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Aptos"/>
              </a:rPr>
              <a:t>LEADERSHIP REVIEW | FABRIC DARK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7315200" cy="86868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2500" b="1">
                <a:solidFill>
                  <a:srgbClr val="16212B"/>
                </a:solidFill>
                <a:latin typeface="Aptos"/>
              </a:rPr>
              <a:t>Current Status: Private Preview is on track with a clear and controlled 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353312"/>
            <a:ext cx="7315200" cy="6583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200" b="0">
                <a:solidFill>
                  <a:srgbClr val="536170"/>
                </a:solidFill>
                <a:latin typeface="Aptos"/>
              </a:rPr>
              <a:t>Dark mode now has stable adoption signals in private preview scope, with safe fallback behavior for surfaces not yet onboarded.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566928"/>
            <a:ext cx="3319272" cy="1371600"/>
          </a:xfrm>
          <a:prstGeom prst="roundRect">
            <a:avLst/>
          </a:prstGeom>
          <a:solidFill>
            <a:srgbClr val="15232E"/>
          </a:solidFill>
          <a:ln w="12700">
            <a:solidFill>
              <a:srgbClr val="15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9056" y="758952"/>
            <a:ext cx="2926080" cy="18288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50" b="1">
                <a:solidFill>
                  <a:srgbClr val="CAD9E3"/>
                </a:solidFill>
                <a:latin typeface="Aptos"/>
              </a:rPr>
              <a:t>PRIVATE PREVIEW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941832"/>
            <a:ext cx="2926080" cy="38404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May 29,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07592"/>
            <a:ext cx="2926080" cy="347472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50" b="0">
                <a:solidFill>
                  <a:srgbClr val="DDE7EE"/>
                </a:solidFill>
                <a:latin typeface="Aptos"/>
              </a:rPr>
              <a:t>Status: On track for planned private preview milestone.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84831"/>
            <a:ext cx="3154680" cy="3977639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21992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PRIVATE PREVIEW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87168"/>
            <a:ext cx="2834640" cy="338328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Fabric Shell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Workloads Hub L1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OneLake Category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Lakehouse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Variable Library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Notebook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Real-Time Hub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Kusto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Warehouse and Azure SQL DW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6212B"/>
                </a:solidFill>
                <a:latin typeface="Aptos"/>
              </a:rPr>
              <a:t>Data Science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2084831"/>
            <a:ext cx="4389120" cy="1856231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58768" y="2221992"/>
            <a:ext cx="393192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CURRENT ADOPTION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1" y="2496312"/>
            <a:ext cx="4069080" cy="1307592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Strong signal: bug bash completed, no sev1/sev2 blockers.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Activation path works: users can turn on dark mode and persist preference.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Scope is intentionally controlled for quality during preview.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114800"/>
            <a:ext cx="4389120" cy="1947672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8768" y="4251960"/>
            <a:ext cx="393192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WHY THIS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2191" y="4526280"/>
            <a:ext cx="4069080" cy="1335024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Reduces eye strain in long creator sessions.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Improves platform modernity and premium perception.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6212B"/>
                </a:solidFill>
                <a:latin typeface="Aptos"/>
              </a:rPr>
              <a:t>Builds confidence with consistent theme behavior in core flows.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2084831"/>
            <a:ext cx="3319272" cy="3977639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221992"/>
            <a:ext cx="288036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PRIVATE PREVIEW STORYLINE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487168"/>
            <a:ext cx="2926080" cy="146304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Enable dark mode from Settings.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Refresh and verify preference persistence.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Navigate key shell surfaces and supported artifacts.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Show safe fallback where onboarding is not yet complete.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14800"/>
            <a:ext cx="2926080" cy="160020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19" b="0">
                <a:solidFill>
                  <a:srgbClr val="536170"/>
                </a:solidFill>
                <a:latin typeface="Aptos"/>
              </a:rPr>
              <a:t>Private preview validates quality and readiness, while full platform consistency depends on the next onboarding wave after preview.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523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41480" y="0"/>
            <a:ext cx="350215" cy="68580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384048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Aptos"/>
              </a:rPr>
              <a:t>LEADERSHIP REVIEW | FULL ADOPTION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7909560" cy="82296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2400" b="1">
                <a:solidFill>
                  <a:srgbClr val="16212B"/>
                </a:solidFill>
                <a:latin typeface="Aptos"/>
              </a:rPr>
              <a:t>Post-Preview Onboarding: close the gap and achieve full adoption by Sep 30,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307592"/>
            <a:ext cx="7909560" cy="59436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200" b="0">
                <a:solidFill>
                  <a:srgbClr val="536170"/>
                </a:solidFill>
                <a:latin typeface="Aptos"/>
              </a:rPr>
              <a:t>Execution objective: condensed onboarding motion across remaining teams to minimize the mixed light/dark UI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566928"/>
            <a:ext cx="3319272" cy="1371600"/>
          </a:xfrm>
          <a:prstGeom prst="roundRect">
            <a:avLst/>
          </a:prstGeom>
          <a:solidFill>
            <a:srgbClr val="15232E"/>
          </a:solidFill>
          <a:ln w="12700">
            <a:solidFill>
              <a:srgbClr val="15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9056" y="758952"/>
            <a:ext cx="2926080" cy="182880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50" b="1">
                <a:solidFill>
                  <a:srgbClr val="CAD9E3"/>
                </a:solidFill>
                <a:latin typeface="Aptos"/>
              </a:rPr>
              <a:t>FULL ADOPTION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941832"/>
            <a:ext cx="2926080" cy="38404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Sep 30,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307592"/>
            <a:ext cx="2926080" cy="347472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50" b="0">
                <a:solidFill>
                  <a:srgbClr val="DDE7EE"/>
                </a:solidFill>
                <a:latin typeface="Aptos"/>
              </a:rPr>
              <a:t>Goal: pull deferred teams into RB semester delivery.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11680"/>
            <a:ext cx="7726679" cy="269748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48840"/>
            <a:ext cx="457200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POST-PREVIEW ONBOARDING ITEMS AND TIMELINE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41448"/>
            <a:ext cx="1325880" cy="310896"/>
          </a:xfrm>
          <a:prstGeom prst="rect">
            <a:avLst/>
          </a:prstGeom>
          <a:solidFill>
            <a:srgbClr val="CFDCEA"/>
          </a:solidFill>
          <a:ln w="6350">
            <a:solidFill>
              <a:srgbClr val="96A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1252728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00" b="1">
                <a:solidFill>
                  <a:srgbClr val="16212B"/>
                </a:solidFill>
                <a:latin typeface="Aptos"/>
              </a:rPr>
              <a:t>Team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20" y="2441448"/>
            <a:ext cx="1325880" cy="310896"/>
          </a:xfrm>
          <a:prstGeom prst="rect">
            <a:avLst/>
          </a:prstGeom>
          <a:solidFill>
            <a:srgbClr val="CFDCEA"/>
          </a:solidFill>
          <a:ln w="6350">
            <a:solidFill>
              <a:srgbClr val="96A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2487168"/>
            <a:ext cx="1252728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00" b="1">
                <a:solidFill>
                  <a:srgbClr val="16212B"/>
                </a:solidFill>
                <a:latin typeface="Aptos"/>
              </a:rPr>
              <a:t>Scenario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441448"/>
            <a:ext cx="2651760" cy="310896"/>
          </a:xfrm>
          <a:prstGeom prst="rect">
            <a:avLst/>
          </a:prstGeom>
          <a:solidFill>
            <a:srgbClr val="CFDCEA"/>
          </a:solidFill>
          <a:ln w="6350">
            <a:solidFill>
              <a:srgbClr val="96A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487168"/>
            <a:ext cx="2578608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00" b="1">
                <a:solidFill>
                  <a:srgbClr val="16212B"/>
                </a:solidFill>
                <a:latin typeface="Aptos"/>
              </a:rPr>
              <a:t>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441448"/>
            <a:ext cx="868680" cy="310896"/>
          </a:xfrm>
          <a:prstGeom prst="rect">
            <a:avLst/>
          </a:prstGeom>
          <a:solidFill>
            <a:srgbClr val="CFDCEA"/>
          </a:solidFill>
          <a:ln w="6350">
            <a:solidFill>
              <a:srgbClr val="96A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2487168"/>
            <a:ext cx="795528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00" b="1">
                <a:solidFill>
                  <a:srgbClr val="16212B"/>
                </a:solidFill>
                <a:latin typeface="Aptos"/>
              </a:rPr>
              <a:t>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441448"/>
            <a:ext cx="1188720" cy="310896"/>
          </a:xfrm>
          <a:prstGeom prst="rect">
            <a:avLst/>
          </a:prstGeom>
          <a:solidFill>
            <a:srgbClr val="CFDCEA"/>
          </a:solidFill>
          <a:ln w="6350">
            <a:solidFill>
              <a:srgbClr val="96A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2487168"/>
            <a:ext cx="1115568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900" b="1">
                <a:solidFill>
                  <a:srgbClr val="16212B"/>
                </a:solidFill>
                <a:latin typeface="Aptos"/>
              </a:rPr>
              <a:t>Prior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752344"/>
            <a:ext cx="13258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807208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Power BI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74520" y="2752344"/>
            <a:ext cx="13258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2807208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PBIClient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752344"/>
            <a:ext cx="26517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2807208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Full validation + AI legacy token fixes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2752344"/>
            <a:ext cx="868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2807208"/>
            <a:ext cx="7955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Variable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2752344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2807208"/>
            <a:ext cx="111556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Post-RB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081528"/>
            <a:ext cx="13258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136392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Dataflow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74520" y="3081528"/>
            <a:ext cx="13258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20240" y="3136392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React + Fluent + 1JS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0" y="3081528"/>
            <a:ext cx="265176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46120" y="3136392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Upgrade + ExtensionThemeProvider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3081528"/>
            <a:ext cx="8686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97880" y="3136392"/>
            <a:ext cx="7955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~1 day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3081528"/>
            <a:ext cx="118872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3136392"/>
            <a:ext cx="111556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Post-RB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410712"/>
            <a:ext cx="13258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465576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Data Activator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410712"/>
            <a:ext cx="13258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20240" y="3465576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TBD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3410712"/>
            <a:ext cx="26517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46120" y="3465576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Confirm scenario and run standard playbook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10712"/>
            <a:ext cx="868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3465576"/>
            <a:ext cx="7955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TBD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20840" y="3410712"/>
            <a:ext cx="11887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0" y="3465576"/>
            <a:ext cx="111556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RB or Post-RB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739896"/>
            <a:ext cx="13258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3794760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Functions Hub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3739896"/>
            <a:ext cx="13258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0240" y="3794760"/>
            <a:ext cx="12527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TBD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0" y="3739896"/>
            <a:ext cx="265176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46120" y="3794760"/>
            <a:ext cx="257860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Confirm scenario and run standard playbook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52160" y="3739896"/>
            <a:ext cx="86868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97880" y="3794760"/>
            <a:ext cx="79552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TBD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0840" y="3739896"/>
            <a:ext cx="1188720" cy="329184"/>
          </a:xfrm>
          <a:prstGeom prst="rect">
            <a:avLst/>
          </a:prstGeom>
          <a:solidFill>
            <a:srgbClr val="F7F9FA"/>
          </a:solidFill>
          <a:ln w="6350"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0" y="3794760"/>
            <a:ext cx="1115568" cy="219456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869" b="0">
                <a:solidFill>
                  <a:srgbClr val="16212B"/>
                </a:solidFill>
                <a:latin typeface="Aptos"/>
              </a:rPr>
              <a:t>Post-RB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75320" y="2011680"/>
            <a:ext cx="3319272" cy="269748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49056" y="2148840"/>
            <a:ext cx="283464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HIGHLIGHTED GAP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2441448"/>
            <a:ext cx="2926080" cy="15087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Four teams still have post-RB or ambiguous timing.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Two teams still need scenario confirmation.</a:t>
            </a:r>
          </a:p>
          <a:p>
            <a:pPr>
              <a:spcAft>
                <a:spcPts val="600"/>
              </a:spcAft>
            </a:pPr>
            <a:r>
              <a:rPr sz="1000" b="0">
                <a:solidFill>
                  <a:srgbClr val="16212B"/>
                </a:solidFill>
                <a:latin typeface="Aptos"/>
              </a:rPr>
              <a:t>Without alignment, customers continue to see mixed light/dark surfaces.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0" y="3968496"/>
            <a:ext cx="2926080" cy="603504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B42318"/>
                </a:solidFill>
                <a:latin typeface="Aptos"/>
              </a:rPr>
              <a:t>Risk: prolonged UI inconsistency window weakens perceived product quality.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4864608"/>
            <a:ext cx="11183112" cy="178308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001768"/>
            <a:ext cx="5303520" cy="201168"/>
          </a:xfrm>
          <a:prstGeom prst="rect">
            <a:avLst/>
          </a:prstGeom>
          <a:noFill/>
        </p:spPr>
        <p:txBody>
          <a:bodyPr wrap="square" lIns="54864" rIns="54864" tIns="54864" bIns="54864">
            <a:spAutoFit/>
          </a:bodyPr>
          <a:lstStyle/>
          <a:p>
            <a:r>
              <a:rPr sz="1000" b="1">
                <a:solidFill>
                  <a:srgbClr val="536170"/>
                </a:solidFill>
                <a:latin typeface="Aptos"/>
              </a:rPr>
              <a:t>FULL ADOPTION PLAN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257800"/>
            <a:ext cx="10927080" cy="1216152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600"/>
              </a:spcAft>
            </a:pPr>
            <a:r>
              <a:rPr sz="1019" b="0">
                <a:solidFill>
                  <a:srgbClr val="16212B"/>
                </a:solidFill>
                <a:latin typeface="Aptos"/>
              </a:rPr>
              <a:t>Step 1 (Week 1): Sync with all four teams and lock scenario mapping. Known: Power BI -&gt; Scenario 1, Dataflow -&gt; Scenario 2.</a:t>
            </a:r>
          </a:p>
          <a:p>
            <a:pPr>
              <a:spcAft>
                <a:spcPts val="600"/>
              </a:spcAft>
            </a:pPr>
            <a:r>
              <a:rPr sz="1019" b="0">
                <a:solidFill>
                  <a:srgbClr val="16212B"/>
                </a:solidFill>
                <a:latin typeface="Aptos"/>
              </a:rPr>
              <a:t>Step 2 (Week 1-2): Get commitment from each team on completion by 9/30, with named blockers and escalation owner.</a:t>
            </a:r>
          </a:p>
          <a:p>
            <a:pPr>
              <a:spcAft>
                <a:spcPts val="600"/>
              </a:spcAft>
            </a:pPr>
            <a:r>
              <a:rPr sz="1019" b="0">
                <a:solidFill>
                  <a:srgbClr val="16212B"/>
                </a:solidFill>
                <a:latin typeface="Aptos"/>
              </a:rPr>
              <a:t>Step 3 (Week 2+): Run regular checkpoint review and keep a single cross-team tracker to avoid drift.</a:t>
            </a:r>
          </a:p>
          <a:p>
            <a:pPr>
              <a:spcAft>
                <a:spcPts val="600"/>
              </a:spcAft>
            </a:pPr>
            <a:r>
              <a:rPr sz="1019" b="0">
                <a:solidFill>
                  <a:srgbClr val="16212B"/>
                </a:solidFill>
                <a:latin typeface="Aptos"/>
              </a:rPr>
              <a:t>Step 4 (By 9/30): Exit gate for full adoption: implementation done, key flow validation complete, no blocking inconsistency defects.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